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33400" y="2010519"/>
            <a:ext cx="1276350" cy="28575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05000" y="2000994"/>
            <a:ext cx="1362075" cy="304800"/>
          </a:xfrm>
          <a:prstGeom prst="roundRect">
            <a:avLst>
              <a:gd name="adj" fmla="val 18750"/>
            </a:avLst>
          </a:prstGeom>
          <a:solidFill>
            <a:srgbClr val="1E232B"/>
          </a:solidFill>
          <a:ln w="9525">
            <a:solidFill>
              <a:srgbClr val="333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62325" y="2000994"/>
            <a:ext cx="1638300" cy="304800"/>
          </a:xfrm>
          <a:prstGeom prst="roundRect">
            <a:avLst>
              <a:gd name="adj" fmla="val 18750"/>
            </a:avLst>
          </a:prstGeom>
          <a:solidFill>
            <a:srgbClr val="1E232B"/>
          </a:solidFill>
          <a:ln w="9525">
            <a:solidFill>
              <a:srgbClr val="333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95875" y="2000994"/>
            <a:ext cx="1123950" cy="304800"/>
          </a:xfrm>
          <a:prstGeom prst="roundRect">
            <a:avLst>
              <a:gd name="adj" fmla="val 18750"/>
            </a:avLst>
          </a:prstGeom>
          <a:solidFill>
            <a:srgbClr val="1E232B"/>
          </a:solidFill>
          <a:ln w="9525">
            <a:solidFill>
              <a:srgbClr val="333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447675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9900"/>
                </a:solidFill>
                <a:latin typeface="Space Grotesk"/>
              </a:rPr>
              <a:t>E-COMMERCE MOTORBIKE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95325"/>
            <a:ext cx="11658600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FFFFFF"/>
                </a:solidFill>
                <a:latin typeface="Plus Jakarta Sans"/>
              </a:rPr>
              <a:t>Motoshop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1313408"/>
            <a:ext cx="92392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Piattaforma per abbigliamento tecnico, caschi racing e accessori moto. Progettata con architettura NoSQL su MongoDB, backend Flask e interfaccia Dark Racing ad alto contrasto.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2067669"/>
            <a:ext cx="1104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0F12"/>
                </a:solidFill>
                <a:latin typeface="Space Grotesk"/>
              </a:rPr>
              <a:t>FLASK /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8350" y="2058144"/>
            <a:ext cx="1190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9900"/>
                </a:solidFill>
                <a:latin typeface="Space Grotesk"/>
              </a:rPr>
              <a:t>MONGODB NOSQL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5675" y="2058144"/>
            <a:ext cx="14668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9900"/>
                </a:solidFill>
                <a:latin typeface="Space Grotesk"/>
              </a:rPr>
              <a:t>LOCALSTORAGE CART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9225" y="2058144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9900"/>
                </a:solidFill>
                <a:latin typeface="Space Grotesk"/>
              </a:rPr>
              <a:t>UNIFIED CSS3</a:t>
            </a:r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34DB06E3-923E-AD47-2F34-536C564E0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944" y="2656261"/>
            <a:ext cx="7754112" cy="37918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33400" y="2416373"/>
            <a:ext cx="4883794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3092648"/>
            <a:ext cx="4883794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768923"/>
            <a:ext cx="4883794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445198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94977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41637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416373"/>
            <a:ext cx="38100" cy="54292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07669" y="2416373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626048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092648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092648"/>
            <a:ext cx="38100" cy="54292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07669" y="3092648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430232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76892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3768923"/>
            <a:ext cx="38100" cy="54292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07669" y="3768923"/>
            <a:ext cx="9525" cy="5429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523577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4445198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4445198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07669" y="4445198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3400" y="381000"/>
            <a:ext cx="11220450" cy="575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 PRODUCT SHOWCASE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5905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Catalogo Ufficiale &amp; Reparti Tecnici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2578298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Sezione Caschi Moto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3254573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Sezione Giacche Tecniche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3930848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Sezione Guanti Racing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4607123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Navigazione Coerente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4864298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Card responsive con transizione hover e link diretti.</a:t>
            </a:r>
          </a:p>
        </p:txBody>
      </p:sp>
      <p:pic>
        <p:nvPicPr>
          <p:cNvPr id="55" name="Immagine 54">
            <a:extLst>
              <a:ext uri="{FF2B5EF4-FFF2-40B4-BE49-F238E27FC236}">
                <a16:creationId xmlns:a16="http://schemas.microsoft.com/office/drawing/2014/main" id="{C91BA17C-560B-88CF-9FEE-B4D9B299A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795" y="2243709"/>
            <a:ext cx="6279816" cy="3069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33400" y="1921073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854523"/>
            <a:ext cx="4883794" cy="101917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007048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940498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711648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92107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921073"/>
            <a:ext cx="38100" cy="8001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07669" y="1921073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86417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285452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2854523"/>
            <a:ext cx="38100" cy="101917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07669" y="2854523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479762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007048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007048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07669" y="4007048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5731073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4940498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4940498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07669" y="4940498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3400" y="381000"/>
            <a:ext cx="11220450" cy="575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 SECURITY &amp; ARCHITECTURE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5905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Autenticazione Sicura &amp; Struttura Dati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082998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Password Hashing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340173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Algoritmo PBKDF2:SHA256 con salt casuale.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3016448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Indice Univoco 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3273623"/>
            <a:ext cx="455041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Indice MongoDB unique=True contro registrazioni doppie.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4168973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Ruolo Blindato Cliente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4426148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Ruolo forzato a livello server contro privilege escalation.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5102423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Audit Log Accessi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5359598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Tracciamento eventi login e logout con timestamp UTC.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7144" y="2321123"/>
            <a:ext cx="676440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Plus Jakarta Sans"/>
              </a:rPr>
              <a:t>Crea un Account</a:t>
            </a:r>
          </a:p>
        </p:txBody>
      </p:sp>
      <p:pic>
        <p:nvPicPr>
          <p:cNvPr id="54" name="Immagine 53">
            <a:extLst>
              <a:ext uri="{FF2B5EF4-FFF2-40B4-BE49-F238E27FC236}">
                <a16:creationId xmlns:a16="http://schemas.microsoft.com/office/drawing/2014/main" id="{CA01C971-D6A4-B07C-F78E-2D5EBB6B5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706" y="1165472"/>
            <a:ext cx="1952195" cy="48411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030610"/>
            <a:ext cx="4901058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964060"/>
            <a:ext cx="4901058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3897510"/>
            <a:ext cx="4901058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830960"/>
            <a:ext cx="4901058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821185"/>
            <a:ext cx="490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030610"/>
            <a:ext cx="490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030610"/>
            <a:ext cx="38100" cy="800100"/>
          </a:xfrm>
          <a:prstGeom prst="rect">
            <a:avLst/>
          </a:prstGeom>
          <a:solidFill>
            <a:srgbClr val="00F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4933" y="2030610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754635"/>
            <a:ext cx="490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2964060"/>
            <a:ext cx="490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2964060"/>
            <a:ext cx="38100" cy="8001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24933" y="2964060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4688085"/>
            <a:ext cx="490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897510"/>
            <a:ext cx="490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3897510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24933" y="3897510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5621535"/>
            <a:ext cx="490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4830960"/>
            <a:ext cx="490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4830960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24933" y="4830960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3400" y="381000"/>
            <a:ext cx="11220450" cy="575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 ROLE-BASED ACCESS CONTROL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5905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Area Personale Cliente vs Dashboard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2192535"/>
            <a:ext cx="587006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Area Personale (Dashboard.html)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2449710"/>
            <a:ext cx="55905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Avatar dinamico con iniziali ed elenco ordini.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3125985"/>
            <a:ext cx="587006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Pannello Admin (DashboardAdmin.html)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3383160"/>
            <a:ext cx="55905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Anagrafica completa utenti e monitoraggio magazzino.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4059435"/>
            <a:ext cx="587006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Pannello Lavoratore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4316610"/>
            <a:ext cx="55905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Upload immagini multipart e rimozione articoli.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4992885"/>
            <a:ext cx="587006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Disaccoppiamento Dati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5250060"/>
            <a:ext cx="55905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Passaggio sessione via data-attributes HTML5.</a:t>
            </a:r>
          </a:p>
        </p:txBody>
      </p:sp>
      <p:pic>
        <p:nvPicPr>
          <p:cNvPr id="54" name="Immagine 53">
            <a:extLst>
              <a:ext uri="{FF2B5EF4-FFF2-40B4-BE49-F238E27FC236}">
                <a16:creationId xmlns:a16="http://schemas.microsoft.com/office/drawing/2014/main" id="{1D8ABED9-1F20-FA4E-D95E-5A1E1C4DA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358" y="1727829"/>
            <a:ext cx="6064772" cy="1865554"/>
          </a:xfrm>
          <a:prstGeom prst="rect">
            <a:avLst/>
          </a:prstGeom>
        </p:spPr>
      </p:pic>
      <p:pic>
        <p:nvPicPr>
          <p:cNvPr id="56" name="Immagine 55">
            <a:extLst>
              <a:ext uri="{FF2B5EF4-FFF2-40B4-BE49-F238E27FC236}">
                <a16:creationId xmlns:a16="http://schemas.microsoft.com/office/drawing/2014/main" id="{A399851B-7E48-D5E3-472A-713DAA2EB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883" y="3781947"/>
            <a:ext cx="6017147" cy="2773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33400" y="1811535"/>
            <a:ext cx="4883794" cy="101917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964060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897510"/>
            <a:ext cx="4883794" cy="1019175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5050035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821185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1811535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811535"/>
            <a:ext cx="38100" cy="101917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07669" y="1811535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754635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2964060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2964060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07669" y="2964060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4907160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897510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3897510"/>
            <a:ext cx="38100" cy="1019175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07669" y="3897510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5840610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5050035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5050035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07669" y="5050035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3400" y="381000"/>
            <a:ext cx="11220450" cy="575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 PRODUCT DETAIL &amp; LOGIC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5905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Scheda Prodotto Dinamica &amp; Gestione Taglie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1973460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Selezione dal Catalogo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2230635"/>
            <a:ext cx="455041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Navigazione con query string id verso Dettaglio_prodotto.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3125985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 Dettaglio &amp; Scelta Taglia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3383160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Selettore taglie dedicato da S a XL con default su 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4059435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 Aggregazione nel Carrello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4316610"/>
            <a:ext cx="455041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Somma automatica quantità su medesima taglia in memoria.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5211960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4. Transizione Acquisto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5469135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Reindirizzamento verso vista intermedia di conferma.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5094" y="3111698"/>
            <a:ext cx="452690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Casco AGV Pista GP RR</a:t>
            </a:r>
          </a:p>
        </p:txBody>
      </p:sp>
      <p:pic>
        <p:nvPicPr>
          <p:cNvPr id="50" name="Immagine 49">
            <a:extLst>
              <a:ext uri="{FF2B5EF4-FFF2-40B4-BE49-F238E27FC236}">
                <a16:creationId xmlns:a16="http://schemas.microsoft.com/office/drawing/2014/main" id="{28920B6E-CB13-94F3-03C7-EB58CBDA1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669" y="2277797"/>
            <a:ext cx="6414538" cy="31246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33400" y="2030610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964060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897510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830960"/>
            <a:ext cx="4883794" cy="80010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821185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030610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030610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07669" y="2030610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3754635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2964060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2964060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07669" y="2964060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4688085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897510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3897510"/>
            <a:ext cx="38100" cy="8001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07669" y="3897510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5621535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4830960"/>
            <a:ext cx="48837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4830960"/>
            <a:ext cx="38100" cy="800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07669" y="4830960"/>
            <a:ext cx="9525" cy="800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3400" y="381000"/>
            <a:ext cx="11220450" cy="575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 CHECKOUT PIPELINE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5905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Carrello Reattivo &amp; Transazioni Asincrone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192535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Persistenza Locale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449710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Array carrello salvato in LocalStorage del client.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3125985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Ricalcolo Subtotale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3383160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Arrotondamento a 2 decimali con round() nel controller.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4059435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Rimozione Istantanea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4316610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Aggiornamento immediato interfaccia senza refresh.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4992885"/>
            <a:ext cx="5847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Chiamata Fetch 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5250060"/>
            <a:ext cx="55689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Scrittura atomica ordini su collection acquisti.</a:t>
            </a:r>
          </a:p>
        </p:txBody>
      </p:sp>
      <p:pic>
        <p:nvPicPr>
          <p:cNvPr id="55" name="Immagine 54">
            <a:extLst>
              <a:ext uri="{FF2B5EF4-FFF2-40B4-BE49-F238E27FC236}">
                <a16:creationId xmlns:a16="http://schemas.microsoft.com/office/drawing/2014/main" id="{91623B38-B699-D5B8-2884-9D7C5ACF3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940" y="1680824"/>
            <a:ext cx="3930691" cy="44013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592585"/>
            <a:ext cx="54102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92585"/>
            <a:ext cx="54102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5059560"/>
            <a:ext cx="5410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2592585"/>
            <a:ext cx="54102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592585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34075" y="2592585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5059560"/>
            <a:ext cx="5410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2592585"/>
            <a:ext cx="54102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2592585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649075" y="2592585"/>
            <a:ext cx="9525" cy="2476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73585"/>
            <a:ext cx="478155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973585"/>
            <a:ext cx="4781550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381000"/>
            <a:ext cx="11220450" cy="575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 FULL-STACK ARCHITECTURE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5905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Stack Tecnologico: Frontend &amp;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468885"/>
            <a:ext cx="62757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Frontend &amp;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868935"/>
            <a:ext cx="5976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HTML5 semantico con Jinja2.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183260"/>
            <a:ext cx="5976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CSS3 Grid e Flexbox unificati.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497585"/>
            <a:ext cx="5976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LocalStorage per carrello attivo.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3468885"/>
            <a:ext cx="56292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Backend 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868935"/>
            <a:ext cx="5629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Application Server WSGI.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4183260"/>
            <a:ext cx="5629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Autenticazione con session secret.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4497585"/>
            <a:ext cx="5629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API RESTful per ordini e catalogo.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395537"/>
            <a:ext cx="5410200" cy="2390775"/>
          </a:xfrm>
          <a:prstGeom prst="roundRect">
            <a:avLst>
              <a:gd name="adj" fmla="val 4780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395537"/>
            <a:ext cx="5410200" cy="2390775"/>
          </a:xfrm>
          <a:prstGeom prst="roundRect">
            <a:avLst>
              <a:gd name="adj" fmla="val 4780"/>
            </a:avLst>
          </a:prstGeom>
          <a:solidFill>
            <a:srgbClr val="16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23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4776787"/>
            <a:ext cx="5410200" cy="9525"/>
          </a:xfrm>
          <a:prstGeom prst="rect">
            <a:avLst/>
          </a:prstGeom>
          <a:solidFill>
            <a:srgbClr val="28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395537"/>
            <a:ext cx="5410200" cy="381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395537"/>
            <a:ext cx="9525" cy="2390775"/>
          </a:xfrm>
          <a:prstGeom prst="rect">
            <a:avLst/>
          </a:prstGeom>
          <a:solidFill>
            <a:srgbClr val="28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34075" y="2395537"/>
            <a:ext cx="9525" cy="2390775"/>
          </a:xfrm>
          <a:prstGeom prst="rect">
            <a:avLst/>
          </a:prstGeom>
          <a:solidFill>
            <a:srgbClr val="28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4776787"/>
            <a:ext cx="5410200" cy="9525"/>
          </a:xfrm>
          <a:prstGeom prst="rect">
            <a:avLst/>
          </a:prstGeom>
          <a:solidFill>
            <a:srgbClr val="28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8400" y="2395537"/>
            <a:ext cx="5410200" cy="38100"/>
          </a:xfrm>
          <a:prstGeom prst="rect">
            <a:avLst/>
          </a:prstGeom>
          <a:solidFill>
            <a:srgbClr val="00F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8400" y="2395537"/>
            <a:ext cx="9525" cy="2390775"/>
          </a:xfrm>
          <a:prstGeom prst="rect">
            <a:avLst/>
          </a:prstGeom>
          <a:solidFill>
            <a:srgbClr val="28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649075" y="2395537"/>
            <a:ext cx="9525" cy="2390775"/>
          </a:xfrm>
          <a:prstGeom prst="rect">
            <a:avLst/>
          </a:prstGeom>
          <a:solidFill>
            <a:srgbClr val="28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705100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2705100"/>
            <a:ext cx="1428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3124200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3567112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010025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343400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3124200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3457575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3790950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4124325"/>
            <a:ext cx="1333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400" y="419100"/>
            <a:ext cx="11220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9900"/>
                </a:solidFill>
                <a:latin typeface="Plus Jakarta Sans"/>
              </a:rPr>
              <a:t> TEST &amp; CONCLUSIONS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47700"/>
            <a:ext cx="116586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Plus Jakarta Sans"/>
              </a:rPr>
              <a:t>Conclusioni, Punti di Forza &amp; Collaudo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428625" y="6238875"/>
            <a:ext cx="13049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Plus Jakarta Sans"/>
              </a:rPr>
              <a:t>Grazie per l'attenzione — Progetto Web </a:t>
            </a:r>
            <a:r>
              <a:rPr sz="1200" b="1" i="0" u="none">
                <a:solidFill>
                  <a:srgbClr val="94A3B8"/>
                </a:solidFill>
                <a:latin typeface="Plus Jakarta Sans"/>
              </a:rPr>
              <a:t>Motoshop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(Emanuele Ruppi &amp; Giovanni Marsala)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6325" y="2681287"/>
            <a:ext cx="6125765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9900"/>
                </a:solidFill>
                <a:latin typeface="Plus Jakarta Sans"/>
              </a:rPr>
              <a:t>Checklist Dimostrazione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3700" y="2681287"/>
            <a:ext cx="5448300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0FFCC"/>
                </a:solidFill>
                <a:latin typeface="Plus Jakarta Sans"/>
              </a:rPr>
              <a:t>Valore Aggiunto del Progetto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275" y="3090862"/>
            <a:ext cx="54649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Server Flask Operativo: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debug attivo e rotte protette.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275" y="3424237"/>
            <a:ext cx="4724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MongoDB Connesso: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database motoshop_db e 5 collezioni.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275" y="3976687"/>
            <a:ext cx="51554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Multi-Ruolo: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collaudo Admin, Lavoratore e Cliente.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275" y="4310062"/>
            <a:ext cx="5524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Pipeline Ordine: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persistenza carrello e storico acquisti.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2275" y="3090862"/>
            <a:ext cx="5310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Design Dark Racing: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contrasto ottimizzato (#121212).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3225" y="3424237"/>
            <a:ext cx="5438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Sicurezza Nativa: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password hashing PBKDF2:SHA256.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2275" y="3757612"/>
            <a:ext cx="5419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Resilienza Offline: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asset locali su filesystem per esame.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3225" y="4090987"/>
            <a:ext cx="5286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Plus Jakarta Sans"/>
              </a:rPr>
              <a:t>Reattività Asincrona: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interazioni veloci senza refresh.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3" baseType="lpstr">
      <vt:lpstr>Calibri</vt:lpstr>
      <vt:lpstr>Space Grotesk</vt:lpstr>
      <vt:lpstr>Arial</vt:lpstr>
      <vt:lpstr>Plus Jakarta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GIOVANNI MARSALA</cp:lastModifiedBy>
  <cp:revision>3</cp:revision>
  <dcterms:created xsi:type="dcterms:W3CDTF">2013-01-27T09:14:16Z</dcterms:created>
  <dcterms:modified xsi:type="dcterms:W3CDTF">2026-10-06T14:57:38Z</dcterms:modified>
  <cp:category/>
</cp:coreProperties>
</file>